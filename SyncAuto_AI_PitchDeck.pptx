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8C8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8C8E0"/>
                </a:solidFill>
                <a:latin typeface="Arial"/>
              </a:rPr>
              <a:t>Revenue ($K) vs. Scale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Agency (headcount)</c:v>
                </c:pt>
              </c:strCache>
            </c:strRef>
          </c:tx>
          <c:spPr>
            <a:solidFill>
              <a:srgbClr val="7A90B0"/>
            </a:solidFill>
            <a:ln w="38100" cap="flat">
              <a:solidFill>
                <a:srgbClr val="7A90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90B0"/>
              </a:solidFill>
              <a:ln w="9525" cap="flat">
                <a:solidFill>
                  <a:srgbClr val="7A90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650</c:v>
                </c:pt>
                <c:pt idx="3">
                  <c:v>950</c:v>
                </c:pt>
                <c:pt idx="4">
                  <c:v>1300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SyncAuto AI (tokens)</c:v>
                </c:pt>
              </c:strCache>
            </c:strRef>
          </c:tx>
          <c:spPr>
            <a:solidFill>
              <a:srgbClr val="00C2FF"/>
            </a:solidFill>
            <a:ln w="38100" cap="flat">
              <a:solidFill>
                <a:srgbClr val="00C2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FF"/>
              </a:solidFill>
              <a:ln w="9525" cap="flat">
                <a:solidFill>
                  <a:srgbClr val="00C2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120</c:v>
                </c:pt>
                <c:pt idx="1">
                  <c:v>320</c:v>
                </c:pt>
                <c:pt idx="2">
                  <c:v>800</c:v>
                </c:pt>
                <c:pt idx="3">
                  <c:v>1800</c:v>
                </c:pt>
                <c:pt idx="4">
                  <c:v>3800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1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8C8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8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FF"/>
              </a:solidFill>
              <a:effectLst/>
            </c:spPr>
          </c:dPt>
          <c:dPt>
            <c:idx val="1"/>
            <c:bubble3D val="0"/>
            <c:spPr>
              <a:solidFill>
                <a:srgbClr val="00E5C3"/>
              </a:solidFill>
              <a:effectLst/>
            </c:spPr>
          </c:dPt>
          <c:dPt>
            <c:idx val="2"/>
            <c:bubble3D val="0"/>
            <c:spPr>
              <a:solidFill>
                <a:srgbClr val="FFB800"/>
              </a:solidFill>
              <a:effectLst/>
            </c:spPr>
          </c:dPt>
          <c:dPt>
            <c:idx val="3"/>
            <c:bubble3D val="0"/>
            <c:spPr>
              <a:solidFill>
                <a:srgbClr val="B8C8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AI Infra &amp; LLM API</c:v>
                </c:pt>
                <c:pt idx="1">
                  <c:v>Product &amp; Engineering</c:v>
                </c:pt>
                <c:pt idx="2">
                  <c:v>Sales &amp; Partnerships</c:v>
                </c:pt>
                <c:pt idx="3">
                  <c:v>Operations &amp; Legal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28</c:v>
                </c:pt>
                <c:pt idx="2">
                  <c:v>22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8C8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8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429768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59536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289304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719072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148840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2578608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3008376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3438144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3867912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4297680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4727448"/>
            <a:ext cx="8979408" cy="9144"/>
          </a:xfrm>
          <a:prstGeom prst="rect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1A316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1A3160">
              <a:alpha val="70000"/>
            </a:srgbClr>
          </a:solidFill>
          <a:ln w="12700">
            <a:solidFill>
              <a:srgbClr val="00C2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-365760"/>
            <a:ext cx="4480560" cy="448056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E5C3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822960"/>
            <a:ext cx="2560320" cy="292608"/>
          </a:xfrm>
          <a:prstGeom prst="rect">
            <a:avLst/>
          </a:prstGeom>
          <a:solidFill>
            <a:srgbClr val="00C2FF">
              <a:alpha val="8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822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AI-NATIVE SYNC EXPERTISE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1234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SyncAuto AI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411480" y="2240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Timing Networks.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1480" y="28346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AI-native agency for PTP/SyncE network audit, configuration &amp; monitoring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1920240" cy="822960"/>
          </a:xfrm>
          <a:prstGeom prst="rect">
            <a:avLst/>
          </a:prstGeom>
          <a:solidFill>
            <a:srgbClr val="13284A"/>
          </a:solidFill>
          <a:ln w="12700">
            <a:solidFill>
              <a:srgbClr val="1B4FD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C3"/>
                </a:solidFill>
              </a:rPr>
              <a:t>~$12B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" y="4261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8E0"/>
                </a:solidFill>
              </a:rPr>
              <a:t>Global Sync Market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3840480"/>
            <a:ext cx="1920240" cy="822960"/>
          </a:xfrm>
          <a:prstGeom prst="rect">
            <a:avLst/>
          </a:prstGeom>
          <a:solidFill>
            <a:srgbClr val="13284A"/>
          </a:solidFill>
          <a:ln w="12700">
            <a:solidFill>
              <a:srgbClr val="1B4FD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0604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C3"/>
                </a:solidFill>
              </a:rPr>
              <a:t>1μs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606040" y="4261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8E0"/>
                </a:solidFill>
              </a:rPr>
              <a:t>Precision We Protect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3840480"/>
            <a:ext cx="1920240" cy="822960"/>
          </a:xfrm>
          <a:prstGeom prst="rect">
            <a:avLst/>
          </a:prstGeom>
          <a:solidFill>
            <a:srgbClr val="13284A"/>
          </a:solidFill>
          <a:ln w="12700">
            <a:solidFill>
              <a:srgbClr val="1B4FD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3886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C3"/>
                </a:solidFill>
              </a:rPr>
              <a:t>10×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00600" y="4261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8E0"/>
                </a:solidFill>
              </a:rPr>
              <a:t>Operating Leverage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Investor &amp; Technical Briefing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Timing Is Broken — And Nobody Knows 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651760" cy="3017520"/>
          </a:xfrm>
          <a:prstGeom prst="rect">
            <a:avLst/>
          </a:prstGeom>
          <a:solidFill>
            <a:srgbClr val="13284A"/>
          </a:solidFill>
          <a:ln w="12700">
            <a:solidFill>
              <a:srgbClr val="1B4F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26517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Black Box Problem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28346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PTP/SyncE is a 'black box' for 95% of IT professionals. Even seasoned network engineers lack deep IEEE 1588v2 / ITU-T G.8275 expertise.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691640"/>
            <a:ext cx="2651760" cy="3017520"/>
          </a:xfrm>
          <a:prstGeom prst="rect">
            <a:avLst/>
          </a:prstGeom>
          <a:solidFill>
            <a:srgbClr val="13284A"/>
          </a:solidFill>
          <a:ln w="12700">
            <a:solidFill>
              <a:srgbClr val="1B4F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691640"/>
            <a:ext cx="26517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Cost of 1 Microsecond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0128" y="28346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In HFT, telecom &amp; smart grids, a single microsecond of sync drift triggers regulatory fines, trade losses, or grid instability. The stakes are $Millions per event.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1691640"/>
            <a:ext cx="2651760" cy="3017520"/>
          </a:xfrm>
          <a:prstGeom prst="rect">
            <a:avLst/>
          </a:prstGeom>
          <a:solidFill>
            <a:srgbClr val="13284A"/>
          </a:solidFill>
          <a:ln w="12700">
            <a:solidFill>
              <a:srgbClr val="1B4F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691640"/>
            <a:ext cx="26517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0488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Expertise Shortage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90488" y="28346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Certified PTP/SyncE architects command $200k+/yr salaries — and there aren't enough of them. Projects stall, deployments fail, and audits go undone.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1B4FD8">
              <a:alpha val="25000"/>
            </a:srgbClr>
          </a:solidFill>
          <a:ln w="12700">
            <a:solidFill>
              <a:srgbClr val="1B4FD8">
                <a:alpha val="5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C8E0"/>
                </a:solidFill>
              </a:rPr>
              <a:t>"The global precision timing market reaches ~$12B by 2030, yet auditable sync expertise is almost entirely manual and human-bottlenecked."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C3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SyncAuto AI: The Operating System for Timing Networks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THE BRAIN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002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LLM Knowledge Engine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920240"/>
            <a:ext cx="228600" cy="1828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72768"/>
            <a:ext cx="5394960" cy="960120"/>
          </a:xfrm>
          <a:prstGeom prst="rect">
            <a:avLst/>
          </a:prstGeom>
          <a:solidFill>
            <a:srgbClr val="13284A"/>
          </a:solidFill>
          <a:ln w="12700">
            <a:solidFill>
              <a:srgbClr val="00C2FF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572768"/>
            <a:ext cx="54864" cy="9601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64592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</a:rPr>
              <a:t>Ingests IEEE 1588v2, ITU-T G.8275.1/2, ESMC, SyncE standards + vendor CLI manuals (Cisco, Nokia, Juniper, Ericsson). Trained on real outage postmortems.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502920" cy="502920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3"/>
                </a:solidFill>
              </a:rPr>
              <a:t>THE HANDS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81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Agentic Workflow Engine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2999232"/>
            <a:ext cx="228600" cy="1828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2651760"/>
            <a:ext cx="5394960" cy="960120"/>
          </a:xfrm>
          <a:prstGeom prst="rect">
            <a:avLst/>
          </a:prstGeom>
          <a:solidFill>
            <a:srgbClr val="13284A"/>
          </a:solidFill>
          <a:ln w="12700">
            <a:solidFill>
              <a:srgbClr val="00E5C3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2651760"/>
            <a:ext cx="54864" cy="96012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7249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</a:rPr>
              <a:t>Clients upload config files or GNSS logs. AI agents parse, reason, and return a structured Sync Health Score with actionable remediation steps — in minutes, not weeks.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502920" cy="50292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THE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Client Dashboard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0" y="4078224"/>
            <a:ext cx="228600" cy="1828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3730752"/>
            <a:ext cx="5394960" cy="960120"/>
          </a:xfrm>
          <a:prstGeom prst="rect">
            <a:avLst/>
          </a:prstGeom>
          <a:solidFill>
            <a:srgbClr val="13284A"/>
          </a:solidFill>
          <a:ln w="12700">
            <a:solidFill>
              <a:srgbClr val="FFB800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3730752"/>
            <a:ext cx="54864" cy="9601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803904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</a:rPr>
              <a:t>Visual Sync Health Score dashboard. Real-time drift alerts, compliance status (MiFID II, IEEE C37.238), and one-click remediation playbooks.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C3"/>
                </a:solidFill>
              </a:rPr>
              <a:t>Unlike traditional consultancies, SyncAuto AI's knowledge compounds automatically — every audit makes the AI smarter, not just the consultant.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800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1 Microsecond = $1 Million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8503920" cy="749808"/>
          </a:xfrm>
          <a:prstGeom prst="rect">
            <a:avLst/>
          </a:prstGeom>
          <a:solidFill>
            <a:srgbClr val="13284A"/>
          </a:solidFill>
          <a:ln w="12700">
            <a:solidFill>
              <a:srgbClr val="00C2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54864" cy="7498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2821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609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5G Private Networks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Industry 4.0 robotics need sub-μs sync; local IT has zero PTP expertise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1627632"/>
            <a:ext cx="1005840" cy="566928"/>
          </a:xfrm>
          <a:prstGeom prst="rect">
            <a:avLst/>
          </a:prstGeom>
          <a:solidFill>
            <a:srgbClr val="1A3160"/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0B0"/>
                </a:solidFill>
              </a:rPr>
              <a:t>SAM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172200" y="1865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$4.2B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1755648"/>
            <a:ext cx="137160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1755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" y="2377440"/>
            <a:ext cx="8503920" cy="749808"/>
          </a:xfrm>
          <a:prstGeom prst="rect">
            <a:avLst/>
          </a:prstGeom>
          <a:solidFill>
            <a:srgbClr val="13284A"/>
          </a:solidFill>
          <a:ln w="12700">
            <a:solidFill>
              <a:srgbClr val="00E5C3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2377440"/>
            <a:ext cx="54864" cy="74980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1176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87552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FinTech / HFT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87552" y="2724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MiFID II &amp; FINRA require strict UTC clock traceability — audits are mandatory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72200" y="2450592"/>
            <a:ext cx="1005840" cy="566928"/>
          </a:xfrm>
          <a:prstGeom prst="rect">
            <a:avLst/>
          </a:prstGeom>
          <a:solidFill>
            <a:srgbClr val="1A3160"/>
          </a:solidFill>
          <a:ln w="12700">
            <a:solidFill>
              <a:srgbClr val="00E5C3">
                <a:alpha val="6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7220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0B0"/>
                </a:solidFill>
              </a:rPr>
              <a:t>SAM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172200" y="26883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C3"/>
                </a:solidFill>
              </a:rPr>
              <a:t>$2.8B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315200" y="2578608"/>
            <a:ext cx="1371600" cy="32004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15200" y="2578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REGULATORY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20040" y="3200400"/>
            <a:ext cx="8503920" cy="749808"/>
          </a:xfrm>
          <a:prstGeom prst="rect">
            <a:avLst/>
          </a:prstGeom>
          <a:solidFill>
            <a:srgbClr val="13284A"/>
          </a:solidFill>
          <a:ln w="12700">
            <a:solidFill>
              <a:srgbClr val="FFB80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0040" y="3200400"/>
            <a:ext cx="54864" cy="7498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74136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87552" y="3255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Utilities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87552" y="3547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IEC 61850 smart grid transition demands phase-accurate PTP across substations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72200" y="3273552"/>
            <a:ext cx="1005840" cy="566928"/>
          </a:xfrm>
          <a:prstGeom prst="rect">
            <a:avLst/>
          </a:prstGeom>
          <a:solidFill>
            <a:srgbClr val="1A3160"/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17220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0B0"/>
                </a:solidFill>
              </a:rPr>
              <a:t>SAM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6172200" y="35112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$2.1B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315200" y="3401568"/>
            <a:ext cx="1371600" cy="32004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315200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20040" y="4023360"/>
            <a:ext cx="8503920" cy="749808"/>
          </a:xfrm>
          <a:prstGeom prst="rect">
            <a:avLst/>
          </a:prstGeom>
          <a:solidFill>
            <a:srgbClr val="13284A"/>
          </a:solidFill>
          <a:ln w="12700">
            <a:solidFill>
              <a:srgbClr val="FF6B6B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320040" y="4023360"/>
            <a:ext cx="54864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97096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87552" y="4078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Broadcast / Media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987552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SMPTE ST 2110 IP-video migration fully depends on PTP — live-broadcast stakes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172200" y="4096512"/>
            <a:ext cx="1005840" cy="566928"/>
          </a:xfrm>
          <a:prstGeom prst="rect">
            <a:avLst/>
          </a:prstGeom>
          <a:solidFill>
            <a:srgbClr val="1A3160"/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172200" y="4096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0B0"/>
                </a:solidFill>
              </a:rPr>
              <a:t>SAM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172200" y="43342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$1.4B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7315200" y="4224528"/>
            <a:ext cx="1371600" cy="32004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31520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Total Addressable Market (TAM): ~$12.4B by 2030  ·  Serviceable Addressable Market (SAM): ~$10.5B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Expertise-as-a-Service (EaaS) — Three Revenue Streams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697480" cy="3200400"/>
          </a:xfrm>
          <a:prstGeom prst="rect">
            <a:avLst/>
          </a:prstGeom>
          <a:solidFill>
            <a:srgbClr val="13284A"/>
          </a:solidFill>
          <a:ln w="12700">
            <a:solidFill>
              <a:srgbClr val="00C2FF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72768"/>
            <a:ext cx="269748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733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Sync Audit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" y="2496312"/>
            <a:ext cx="1371600" cy="219456"/>
          </a:xfrm>
          <a:prstGeom prst="rect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496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Fixed Fee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$5K – $15K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</a:rPr>
              <a:t>90%+ Gross Margin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4930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</a:rPr>
              <a:t>AI-generated deep-dive into client's PTP topology. Detects Timing Islands, PDV anomalies, GNSS vulnerabilities. Delivered in 48 hours vs. 6-week consultant engagement.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1572768"/>
            <a:ext cx="2697480" cy="3200400"/>
          </a:xfrm>
          <a:prstGeom prst="rect">
            <a:avLst/>
          </a:prstGeom>
          <a:solidFill>
            <a:srgbClr val="13284A"/>
          </a:solidFill>
          <a:ln w="12700">
            <a:solidFill>
              <a:srgbClr val="00E5C3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572768"/>
            <a:ext cx="2697480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6733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C3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37560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Guardian Retainer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7560" y="2496312"/>
            <a:ext cx="1371600" cy="219456"/>
          </a:xfrm>
          <a:prstGeom prst="rect">
            <a:avLst/>
          </a:prstGeom>
          <a:solidFill>
            <a:srgbClr val="00E5C3">
              <a:alpha val="30000"/>
            </a:srgbClr>
          </a:solidFill>
          <a:ln w="12700">
            <a:solidFill>
              <a:srgbClr val="00E5C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496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3"/>
                </a:solidFill>
              </a:rPr>
              <a:t>Monthly Subscription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$2K – $8K /mo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37560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</a:rPr>
              <a:t>Recurring ARR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4930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</a:rPr>
              <a:t>Continuous AI agent monitoring for sync drift, GNSS interference, SyncE holdover degradation. Auto-alerts with root-cause analysis. The 'always-on expert' model.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35624" y="1572768"/>
            <a:ext cx="2697480" cy="3200400"/>
          </a:xfrm>
          <a:prstGeom prst="rect">
            <a:avLst/>
          </a:prstGeom>
          <a:solidFill>
            <a:srgbClr val="13284A"/>
          </a:solidFill>
          <a:ln w="12700">
            <a:solidFill>
              <a:srgbClr val="FFB80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572768"/>
            <a:ext cx="269748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16733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03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45352" y="2121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Emergency Vibe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5352" y="2496312"/>
            <a:ext cx="1371600" cy="219456"/>
          </a:xfrm>
          <a:prstGeom prst="rect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2496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On-Demand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5352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$500/hr equiv.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45352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Premium Pricing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45352" y="34930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</a:rPr>
              <a:t>Instant access to specialized Troubleshooting Agent when a network goes down. Sub-30-min triage. High-value, high-urgency, priced for criticality.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1A3160"/>
          </a:solidFill>
          <a:ln w="12700">
            <a:solidFill>
              <a:srgbClr val="1B4FD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8E0"/>
                </a:solidFill>
              </a:rPr>
              <a:t>Target Y2 ARR: $2.5M with 12 Guardian clients + 40 audits/yr  ·  &lt;5 FTE at scale  ·  NPS target: 80+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C3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Domination Strategy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8503920" cy="36576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029968"/>
            <a:ext cx="237744" cy="23774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77440"/>
            <a:ext cx="2788920" cy="2487168"/>
          </a:xfrm>
          <a:prstGeom prst="rect">
            <a:avLst/>
          </a:prstGeom>
          <a:solidFill>
            <a:srgbClr val="13284A"/>
          </a:solidFill>
          <a:ln w="12700">
            <a:solidFill>
              <a:srgbClr val="00C2FF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77440"/>
            <a:ext cx="278892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PHASE 1  ·  Months 1–4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Free Utility (Hook)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32004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Launch 'PTP Profile Validator' — paste config, get G.8275.1 compliance report instantly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Capture email leads from network engineers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Build authority: zero sales friction, zero cost to user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2029968"/>
            <a:ext cx="237744" cy="237744"/>
          </a:xfrm>
          <a:prstGeom prst="ellipse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377440"/>
            <a:ext cx="2788920" cy="2487168"/>
          </a:xfrm>
          <a:prstGeom prst="rect">
            <a:avLst/>
          </a:prstGeom>
          <a:solidFill>
            <a:srgbClr val="13284A"/>
          </a:solidFill>
          <a:ln w="12700">
            <a:solidFill>
              <a:srgbClr val="00E5C3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377440"/>
            <a:ext cx="2788920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3"/>
                </a:solidFill>
              </a:rPr>
              <a:t>PHASE 2  ·  Months 4–10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01568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 Partnership Program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32004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Partner with Cisco/Nokia/Juniper VARs who sell hardware but lack sync expertise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Become their white-label 'AI Sync Expert' on every deployment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Revenue share model, no cold sales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2029968"/>
            <a:ext cx="237744" cy="237744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377440"/>
            <a:ext cx="2788920" cy="2487168"/>
          </a:xfrm>
          <a:prstGeom prst="rect">
            <a:avLst/>
          </a:prstGeom>
          <a:solidFill>
            <a:srgbClr val="13284A"/>
          </a:solidFill>
          <a:ln w="12700">
            <a:solidFill>
              <a:srgbClr val="FFB800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2377440"/>
            <a:ext cx="27889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PHASE 3  ·  Month 10+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73368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Expert 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73368" y="32004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Publish annual 'Sync State of the Union' research reports from aggregated (anonymized)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Prompt-engineer the most accurate PTP troubleshooting agent globally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8E0"/>
                </a:solidFill>
              </a:rPr>
              <a:t>Become the IEEE/ITU-T reference brand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1783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M0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1783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M4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63640" y="1783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M10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C3"/>
                </a:solidFill>
              </a:rPr>
              <a:t>Content moat + VAR channel + data flywheel = compounding defensibility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FF"/>
                </a:solidFill>
              </a:rPr>
              <a:t>COMPETITIVE LANDSCAPE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SyncAuto AI Wins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011680" cy="41148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81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8E0"/>
                </a:solidFill>
              </a:rPr>
              <a:t>Capability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0008" y="1481328"/>
            <a:ext cx="1463040" cy="41148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1481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8E0"/>
                </a:solidFill>
              </a:rPr>
              <a:t>Traditional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8C8E0"/>
                </a:solidFill>
              </a:rPr>
              <a:t>Consultant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31336" y="1481328"/>
            <a:ext cx="1645920" cy="41148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14813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8E0"/>
                </a:solidFill>
              </a:rPr>
              <a:t>Vendor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8C8E0"/>
                </a:solidFill>
              </a:rPr>
              <a:t>Professional Svcs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95544" y="1481328"/>
            <a:ext cx="1463040" cy="41148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5544" y="1481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8E0"/>
                </a:solidFill>
              </a:rPr>
              <a:t>Generic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8C8E0"/>
                </a:solidFill>
              </a:rPr>
              <a:t>Chatbot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76872" y="1481328"/>
            <a:ext cx="1874520" cy="41148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14813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SyncAuto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201168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38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IEEE 1588v2 Deep Audit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50008" y="1938528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0008" y="1938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E0A0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31336" y="1938528"/>
            <a:ext cx="164592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E0A0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95544" y="1938528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5544" y="1938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76872" y="1938528"/>
            <a:ext cx="18745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1938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3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359152"/>
            <a:ext cx="201168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Fully Automated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50008" y="2359152"/>
            <a:ext cx="146304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0008" y="2359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31336" y="2359152"/>
            <a:ext cx="164592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31336" y="2359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95544" y="2359152"/>
            <a:ext cx="146304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2359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Partial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76872" y="2359152"/>
            <a:ext cx="18745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23591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3"/>
                </a:solidFill>
              </a:rPr>
              <a:t>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2779776"/>
            <a:ext cx="201168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7797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&lt;48hr Turnaround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50008" y="2779776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0008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31336" y="2779776"/>
            <a:ext cx="164592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31336" y="2779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95544" y="2779776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95544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E0A0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76872" y="2779776"/>
            <a:ext cx="18745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76872" y="27797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3"/>
                </a:solidFill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200400"/>
            <a:ext cx="201168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Continuous Monitoring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50008" y="3200400"/>
            <a:ext cx="146304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50008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831336" y="3200400"/>
            <a:ext cx="164592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31336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95544" y="3200400"/>
            <a:ext cx="146304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95544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76872" y="3200400"/>
            <a:ext cx="18745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76872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3"/>
                </a:solidFill>
              </a:rPr>
              <a:t>✓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3621024"/>
            <a:ext cx="201168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Vendor-Agnostic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350008" y="3621024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50008" y="36210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Partial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831336" y="3621024"/>
            <a:ext cx="164592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31336" y="36210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95544" y="3621024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95544" y="36210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E0A0"/>
                </a:solidFill>
              </a:rPr>
              <a:t>✓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976872" y="3621024"/>
            <a:ext cx="18745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76872" y="36210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3"/>
                </a:solidFill>
              </a:rPr>
              <a:t>✓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" y="4041648"/>
            <a:ext cx="201168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041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Cost ($)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350008" y="4041648"/>
            <a:ext cx="146304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50008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$200K+/yr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831336" y="4041648"/>
            <a:ext cx="164592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31336" y="4041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$150K+ project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495544" y="4041648"/>
            <a:ext cx="1463040" cy="384048"/>
          </a:xfrm>
          <a:prstGeom prst="rect">
            <a:avLst/>
          </a:prstGeom>
          <a:solidFill>
            <a:srgbClr val="111F3B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95544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E0"/>
                </a:solidFill>
              </a:rPr>
              <a:t>Low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976872" y="4041648"/>
            <a:ext cx="18745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76872" y="40416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3"/>
                </a:solidFill>
              </a:rPr>
              <a:t>$24-96K/yr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20040" y="4462272"/>
            <a:ext cx="201168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4462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Scales without headcount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350008" y="4462272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50008" y="4462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831336" y="4462272"/>
            <a:ext cx="164592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31336" y="4462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✗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495544" y="4462272"/>
            <a:ext cx="1463040" cy="384048"/>
          </a:xfrm>
          <a:prstGeom prst="rect">
            <a:avLst/>
          </a:prstGeom>
          <a:solidFill>
            <a:srgbClr val="13284A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95544" y="4462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E0A0"/>
                </a:solidFill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976872" y="4462272"/>
            <a:ext cx="18745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76872" y="4462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3"/>
                </a:solidFill>
              </a:rPr>
              <a:t>✓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013448" y="1481328"/>
            <a:ext cx="1892808" cy="36576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800"/>
                </a:solidFill>
              </a:rPr>
              <a:t>THE VC THESIS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Leverage: Scale With Tokens, Not Headcount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50876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554480"/>
            <a:ext cx="1965960" cy="804672"/>
          </a:xfrm>
          <a:prstGeom prst="rect">
            <a:avLst/>
          </a:prstGeom>
          <a:solidFill>
            <a:srgbClr val="13284A"/>
          </a:solidFill>
          <a:ln w="12700">
            <a:solidFill>
              <a:srgbClr val="00E5C3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0" y="1554480"/>
            <a:ext cx="1965960" cy="36576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C3"/>
                </a:solidFill>
              </a:rPr>
              <a:t>90%+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754880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Gross Margin (Audit)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49440" y="1554480"/>
            <a:ext cx="1965960" cy="804672"/>
          </a:xfrm>
          <a:prstGeom prst="rect">
            <a:avLst/>
          </a:prstGeom>
          <a:solidFill>
            <a:srgbClr val="13284A"/>
          </a:solidFill>
          <a:ln w="12700">
            <a:solidFill>
              <a:srgbClr val="00E5C3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1554480"/>
            <a:ext cx="1965960" cy="36576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C3"/>
                </a:solidFill>
              </a:rPr>
              <a:t>85%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49440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Gross Margin (Guardian)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2514600"/>
            <a:ext cx="1965960" cy="804672"/>
          </a:xfrm>
          <a:prstGeom prst="rect">
            <a:avLst/>
          </a:prstGeom>
          <a:solidFill>
            <a:srgbClr val="13284A"/>
          </a:solidFill>
          <a:ln w="12700">
            <a:solidFill>
              <a:srgbClr val="00C2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514600"/>
            <a:ext cx="196596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</a:rPr>
              <a:t>&lt;3 mo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754880" y="3008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CAC Payback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49440" y="2514600"/>
            <a:ext cx="1965960" cy="804672"/>
          </a:xfrm>
          <a:prstGeom prst="rect">
            <a:avLst/>
          </a:prstGeom>
          <a:solidFill>
            <a:srgbClr val="13284A"/>
          </a:solidFill>
          <a:ln w="12700">
            <a:solidFill>
              <a:srgbClr val="00C2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949440" y="2514600"/>
            <a:ext cx="196596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</a:rPr>
              <a:t>130%+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949440" y="3008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NRR Target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3474720"/>
            <a:ext cx="1965960" cy="804672"/>
          </a:xfrm>
          <a:prstGeom prst="rect">
            <a:avLst/>
          </a:prstGeom>
          <a:solidFill>
            <a:srgbClr val="13284A"/>
          </a:solidFill>
          <a:ln w="12700">
            <a:solidFill>
              <a:srgbClr val="FFB800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474720"/>
            <a:ext cx="196596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3566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</a:rPr>
              <a:t>$8M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4754880" y="39684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Y3 ARR Target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49440" y="3474720"/>
            <a:ext cx="1965960" cy="804672"/>
          </a:xfrm>
          <a:prstGeom prst="rect">
            <a:avLst/>
          </a:prstGeom>
          <a:solidFill>
            <a:srgbClr val="13284A"/>
          </a:solidFill>
          <a:ln w="12700">
            <a:solidFill>
              <a:srgbClr val="FFB800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949440" y="3474720"/>
            <a:ext cx="196596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9440" y="3566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</a:rPr>
              <a:t>&lt;10 FTE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949440" y="39684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8E0"/>
                </a:solidFill>
              </a:rPr>
              <a:t>Team at Scale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" y="4553712"/>
            <a:ext cx="8503920" cy="475488"/>
          </a:xfrm>
          <a:prstGeom prst="rect">
            <a:avLst/>
          </a:prstGeom>
          <a:solidFill>
            <a:srgbClr val="1A3160"/>
          </a:solidFill>
          <a:ln w="12700">
            <a:solidFill>
              <a:srgbClr val="1B4FD8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55371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8E0"/>
                </a:solidFill>
              </a:rPr>
              <a:t>Every new audit = </a:t>
            </a:r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richer training data</a:t>
            </a:r>
            <a:pPr algn="ctr" indent="0" marL="0">
              <a:buNone/>
            </a:pPr>
            <a:r>
              <a:rPr lang="en-US" sz="1200" dirty="0">
                <a:solidFill>
                  <a:srgbClr val="B8C8E0"/>
                </a:solidFill>
              </a:rPr>
              <a:t>  |  Every new client = </a:t>
            </a:r>
            <a:pPr algn="ctr" indent="0" marL="0">
              <a:buNone/>
            </a:pPr>
            <a:r>
              <a:rPr lang="en-US" sz="1200" b="1" dirty="0">
                <a:solidFill>
                  <a:srgbClr val="00E5C3"/>
                </a:solidFill>
              </a:rPr>
              <a:t>higher model accuracy</a:t>
            </a:r>
            <a:pPr algn="ctr" indent="0" marL="0">
              <a:buNone/>
            </a:pPr>
            <a:r>
              <a:rPr lang="en-US" sz="1200" dirty="0">
                <a:solidFill>
                  <a:srgbClr val="B8C8E0"/>
                </a:solidFill>
              </a:rPr>
              <a:t>  |  Zero incremental headcount per deal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C3"/>
                </a:solidFill>
              </a:rPr>
              <a:t>TRACTION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Market Leader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960120" cy="274320"/>
          </a:xfrm>
          <a:prstGeom prst="rect">
            <a:avLst/>
          </a:prstGeom>
          <a:solidFill>
            <a:srgbClr val="00C2FF">
              <a:alpha val="8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NOW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1719072"/>
            <a:ext cx="182880" cy="274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1508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PTP Profile Validator MVP live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Knowledge base: 12 IEEE/ITU-T standards ingested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2 LOI from telecom VAR partners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59736"/>
            <a:ext cx="960120" cy="274320"/>
          </a:xfrm>
          <a:prstGeom prst="rect">
            <a:avLst/>
          </a:prstGeom>
          <a:solidFill>
            <a:srgbClr val="00E5C3">
              <a:alpha val="80000"/>
            </a:srgbClr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597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Q2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98448" y="2578608"/>
            <a:ext cx="182880" cy="274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23682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First 5 paying Sync Audit clients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Guardian retainer pilot (3 clients)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VAR white-label agreement signed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19272"/>
            <a:ext cx="960120" cy="274320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19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Q4 2025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98448" y="3438144"/>
            <a:ext cx="182880" cy="274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32278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$500K ARR milestone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10 Guardian retainers active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'Sync State of the Union' report published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78808"/>
            <a:ext cx="960120" cy="274320"/>
          </a:xfrm>
          <a:prstGeom prst="rect">
            <a:avLst/>
          </a:prstGeom>
          <a:solidFill>
            <a:srgbClr val="00C2FF">
              <a:alpha val="8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788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98448" y="4297680"/>
            <a:ext cx="182880" cy="274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2768" y="40873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$2.5M ARR, Series A raise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Self-service audit portal launch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</a:rPr>
              <a:t>International expansion: EU / APAC 5G markets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0" y="1481328"/>
            <a:ext cx="3794760" cy="3401568"/>
          </a:xfrm>
          <a:prstGeom prst="rect">
            <a:avLst/>
          </a:prstGeom>
          <a:solidFill>
            <a:srgbClr val="13284A"/>
          </a:solidFill>
          <a:ln w="12700">
            <a:solidFill>
              <a:srgbClr val="1B4FD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1481328"/>
            <a:ext cx="3794760" cy="54864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SEED ROUND: $750K</a:t>
            </a:r>
            <a:endParaRPr lang="en-US" sz="14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074920" y="1965960"/>
          <a:ext cx="37033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074920" y="4828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18-month runway to $500K ARR milestone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11F3B"/>
          </a:solidFill>
          <a:ln w="12700">
            <a:solidFill>
              <a:srgbClr val="11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1A3160">
              <a:alpha val="40000"/>
            </a:srgbClr>
          </a:solidFill>
          <a:ln w="12700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1A3160">
              <a:alpha val="30000"/>
            </a:srgbClr>
          </a:solidFill>
          <a:ln w="12700">
            <a:solidFill>
              <a:srgbClr val="00E5C3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Network Expert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Never Sleeps.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C2FF"/>
                </a:solidFill>
              </a:rPr>
              <a:t>SyncAuto AI</a:t>
            </a:r>
            <a:pPr algn="ctr" indent="0" marL="0">
              <a:buNone/>
            </a:pPr>
            <a:r>
              <a:rPr lang="en-US" sz="1350" dirty="0">
                <a:solidFill>
                  <a:srgbClr val="B8C8E0"/>
                </a:solidFill>
              </a:rPr>
              <a:t> is the only AI-native platform purpose-built for PTP/SyncE network intelligence.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8C8E0"/>
                </a:solidFill>
              </a:rPr>
              <a:t>We turn the world's most opaque networking domain into a scalable, automated, high-margin business.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2606040" cy="594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Schedule 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520440"/>
            <a:ext cx="2606040" cy="594360"/>
          </a:xfrm>
          <a:prstGeom prst="rect">
            <a:avLst/>
          </a:prstGeom>
          <a:solidFill>
            <a:srgbClr val="00E5C3">
              <a:alpha val="20000"/>
            </a:srgbClr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520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3"/>
                </a:solidFill>
              </a:rPr>
              <a:t>Download Free PTP Validator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520440"/>
            <a:ext cx="2606040" cy="594360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520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800"/>
                </a:solidFill>
              </a:rPr>
              <a:t>Partner With 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</a:rPr>
              <a:t>syncauto.ai  ·  contact@syncauto.ai  ·  "Where every microsecond counts"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SyncAuto AI – Pitch Deck</dc:title>
  <dc:subject>PptxGenJS Presentation</dc:subject>
  <dc:creator>PptxGenJS</dc:creator>
  <cp:lastModifiedBy>PptxGenJS</cp:lastModifiedBy>
  <cp:revision>1</cp:revision>
  <dcterms:created xsi:type="dcterms:W3CDTF">2026-02-23T13:27:41Z</dcterms:created>
  <dcterms:modified xsi:type="dcterms:W3CDTF">2026-02-23T13:27:41Z</dcterms:modified>
</cp:coreProperties>
</file>